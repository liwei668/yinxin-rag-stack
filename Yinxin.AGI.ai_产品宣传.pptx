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182880"/>
            <a:ext cx="1371600" cy="1371600"/>
          </a:xfrm>
          <a:prstGeom prst="ellipse">
            <a:avLst/>
          </a:prstGeom>
          <a:solidFill>
            <a:srgbClr val="2E5C8A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Yinxin.AGI.ai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企业级智能对话与自动化平台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让AI成为您的智能助手</a:t>
            </a:r>
            <a:endParaRPr lang="en-US" sz="1600" dirty="0"/>
          </a:p>
        </p:txBody>
      </p:sp>
      <p:sp>
        <p:nvSpPr>
          <p:cNvPr id="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73152" cy="3657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产品概述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了解Yinxin.AGI.ai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8872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四大智能引擎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88720" y="3017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技术优势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3383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领先的技术架构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931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8872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4297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企业级解决方案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0" y="1097280"/>
            <a:ext cx="3200400" cy="3474720"/>
          </a:xfrm>
          <a:prstGeom prst="rect">
            <a:avLst>
              <a:gd name="adj" fmla="val 2857"/>
            </a:avLst>
          </a:prstGeom>
          <a:solidFill>
            <a:srgbClr val="E8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16459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0" y="16459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5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E5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0" y="29260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0" y="29260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记账</a:t>
            </a:r>
            <a:endParaRPr lang="en-US" sz="1400" dirty="0"/>
          </a:p>
        </p:txBody>
      </p:sp>
      <p:sp>
        <p:nvSpPr>
          <p:cNvPr id="2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产品概述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 Yinxin.AGI.ai？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Yinxin.AGI.ai 是一款面向企业的智能对话与自动化平台，集成了先进的大语言模型技术，提供从智能对话到自动化任务执行的一站式解决方案。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1828800" cy="822960"/>
          </a:xfrm>
          <a:prstGeom prst="rect">
            <a:avLst>
              <a:gd name="adj" fmla="val 8889"/>
            </a:avLst>
          </a:prstGeom>
          <a:solidFill>
            <a:srgbClr val="E8F4F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32461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智能对话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35204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自然语言交互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3108960"/>
            <a:ext cx="1828800" cy="822960"/>
          </a:xfrm>
          <a:prstGeom prst="rect">
            <a:avLst>
              <a:gd name="adj" fmla="val 8889"/>
            </a:avLst>
          </a:prstGeom>
          <a:solidFill>
            <a:srgbClr val="E8F4F8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017520" y="32461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高效执行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35204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自动化任务处理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1828800" cy="822960"/>
          </a:xfrm>
          <a:prstGeom prst="rect">
            <a:avLst>
              <a:gd name="adj" fmla="val 8889"/>
            </a:avLst>
          </a:prstGeom>
          <a:solidFill>
            <a:srgbClr val="E8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05840" y="4160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持续学习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4434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个性化记忆系统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68880" y="4023360"/>
            <a:ext cx="1828800" cy="822960"/>
          </a:xfrm>
          <a:prstGeom prst="rect">
            <a:avLst>
              <a:gd name="adj" fmla="val 8889"/>
            </a:avLst>
          </a:prstGeom>
          <a:solidFill>
            <a:srgbClr val="E8F4F8"/>
          </a:solidFill>
          <a:ln/>
        </p:spPr>
      </p:sp>
      <p:sp>
        <p:nvSpPr>
          <p:cNvPr id="19" name="Text 17"/>
          <p:cNvSpPr/>
          <p:nvPr/>
        </p:nvSpPr>
        <p:spPr>
          <a:xfrm>
            <a:off x="256032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017520" y="4160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安全可靠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017520" y="4434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企业级数据保护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0" y="1371600"/>
            <a:ext cx="3657600" cy="3291840"/>
          </a:xfrm>
          <a:prstGeom prst="rect">
            <a:avLst>
              <a:gd name="adj" fmla="val 2778"/>
            </a:avLst>
          </a:prstGeom>
          <a:solidFill>
            <a:srgbClr val="2E5C8A">
              <a:alpha val="9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0" y="22860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AI-Powered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Enterprise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Platform</a:t>
            </a:r>
            <a:endParaRPr lang="en-US" sz="2400" dirty="0"/>
          </a:p>
        </p:txBody>
      </p:sp>
      <p:sp>
        <p:nvSpPr>
          <p:cNvPr id="2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智能对话系统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20040" cy="32004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多轮对话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支持上下文理解的连续对话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20040" cy="32004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多模型支持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514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集成多种主流大语言模型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320040" cy="32004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流式响应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337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实时输出，无需等待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320040" cy="32004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840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840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语音交互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4160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支持语音输入与朗读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0" y="1371600"/>
            <a:ext cx="3657600" cy="3200400"/>
          </a:xfrm>
          <a:prstGeom prst="rect">
            <a:avLst>
              <a:gd name="adj" fmla="val 2857"/>
            </a:avLst>
          </a:prstGeom>
          <a:solidFill>
            <a:srgbClr val="E8F4F8"/>
          </a:solidFill>
          <a:ln/>
        </p:spPr>
      </p:sp>
      <p:sp>
        <p:nvSpPr>
          <p:cNvPr id="21" name="Shape 19"/>
          <p:cNvSpPr/>
          <p:nvPr/>
        </p:nvSpPr>
        <p:spPr>
          <a:xfrm>
            <a:off x="5303520" y="1645920"/>
            <a:ext cx="3108960" cy="7315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用户：帮我分析一下今年的销售数据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03520" y="2560320"/>
            <a:ext cx="3108960" cy="1097280"/>
          </a:xfrm>
          <a:prstGeom prst="rect">
            <a:avLst>
              <a:gd name="adj" fmla="val 6667"/>
            </a:avLst>
          </a:prstGeom>
          <a:solidFill>
            <a:srgbClr val="2E5C8A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0" y="27432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AI：好的，我来为您分析销售数据。从趋势来看，Q3增长显著...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03520" y="3840480"/>
            <a:ext cx="3108960" cy="457200"/>
          </a:xfrm>
          <a:prstGeom prst="rect">
            <a:avLst>
              <a:gd name="adj" fmla="val 16000"/>
            </a:avLst>
          </a:prstGeom>
          <a:solidFill>
            <a:srgbClr val="00D4AA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输入消息...</a:t>
            </a:r>
            <a:endParaRPr lang="en-US" sz="1100" dirty="0"/>
          </a:p>
        </p:txBody>
      </p:sp>
      <p:sp>
        <p:nvSpPr>
          <p:cNvPr id="2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Agent自动化引擎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828800" cy="1280160"/>
          </a:xfrm>
          <a:prstGeom prst="rect">
            <a:avLst>
              <a:gd name="adj" fmla="val 5714"/>
            </a:avLst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94360" y="20116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任务规划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自动分解复杂任务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371600"/>
            <a:ext cx="1828800" cy="1280160"/>
          </a:xfrm>
          <a:prstGeom prst="rect">
            <a:avLst>
              <a:gd name="adj" fmla="val 5714"/>
            </a:avLst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606040" y="20116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工具调用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06040" y="23317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集成多种外部工具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1828800" cy="1280160"/>
          </a:xfrm>
          <a:prstGeom prst="rect">
            <a:avLst>
              <a:gd name="adj" fmla="val 5714"/>
            </a:avLst>
          </a:prstGeom>
          <a:solidFill>
            <a:srgbClr val="2E5C8A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" y="34747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自主执行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37947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独立完成多步骤操作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68880" y="2834640"/>
            <a:ext cx="1828800" cy="1280160"/>
          </a:xfrm>
          <a:prstGeom prst="rect">
            <a:avLst>
              <a:gd name="adj" fmla="val 5714"/>
            </a:avLst>
          </a:prstGeom>
          <a:solidFill>
            <a:srgbClr val="2E5C8A"/>
          </a:solidFill>
          <a:ln/>
        </p:spPr>
      </p:sp>
      <p:sp>
        <p:nvSpPr>
          <p:cNvPr id="17" name="Text 15"/>
          <p:cNvSpPr/>
          <p:nvPr/>
        </p:nvSpPr>
        <p:spPr>
          <a:xfrm>
            <a:off x="260604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606040" y="34747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结果反馈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06040" y="37947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实时汇报执行进度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Agent工作流程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0" y="1828800"/>
            <a:ext cx="1828800" cy="457200"/>
          </a:xfrm>
          <a:prstGeom prst="rect">
            <a:avLst>
              <a:gd name="adj" fmla="val 10000"/>
            </a:avLst>
          </a:prstGeom>
          <a:solidFill>
            <a:srgbClr val="00D4AA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1920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接收任务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3680" y="2331720"/>
            <a:ext cx="548640" cy="9144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0" y="2468880"/>
            <a:ext cx="1828800" cy="457200"/>
          </a:xfrm>
          <a:prstGeom prst="rect">
            <a:avLst>
              <a:gd name="adj" fmla="val 10000"/>
            </a:avLst>
          </a:prstGeom>
          <a:solidFill>
            <a:srgbClr val="00D4AA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分析规划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83680" y="2971800"/>
            <a:ext cx="548640" cy="9144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0" y="3108960"/>
            <a:ext cx="1828800" cy="457200"/>
          </a:xfrm>
          <a:prstGeom prst="rect">
            <a:avLst>
              <a:gd name="adj" fmla="val 10000"/>
            </a:avLst>
          </a:prstGeom>
          <a:solidFill>
            <a:srgbClr val="00D4AA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0" y="3200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执行操作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83680" y="3611880"/>
            <a:ext cx="548640" cy="9144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30" name="Shape 28"/>
          <p:cNvSpPr/>
          <p:nvPr/>
        </p:nvSpPr>
        <p:spPr>
          <a:xfrm>
            <a:off x="5943600" y="3749040"/>
            <a:ext cx="1828800" cy="457200"/>
          </a:xfrm>
          <a:prstGeom prst="rect">
            <a:avLst>
              <a:gd name="adj" fmla="val 10000"/>
            </a:avLst>
          </a:prstGeom>
          <a:solidFill>
            <a:srgbClr val="00D4AA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结果输出</a:t>
            </a:r>
            <a:endParaRPr lang="en-US" sz="1200" dirty="0"/>
          </a:p>
        </p:txBody>
      </p:sp>
      <p:sp>
        <p:nvSpPr>
          <p:cNvPr id="3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知识库RAG系统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3200400"/>
          </a:xfrm>
          <a:prstGeom prst="rect">
            <a:avLst>
              <a:gd name="adj" fmla="val 2857"/>
            </a:avLst>
          </a:prstGeom>
          <a:solidFill>
            <a:srgbClr val="E8F4F8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1371600" cy="45720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用户查询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1371600" cy="457200"/>
          </a:xfrm>
          <a:prstGeom prst="rect">
            <a:avLst>
              <a:gd name="adj" fmla="val 10000"/>
            </a:avLst>
          </a:prstGeom>
          <a:solidFill>
            <a:srgbClr val="2E5C8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86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向量检索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2194560"/>
            <a:ext cx="1645920" cy="457200"/>
          </a:xfrm>
          <a:prstGeom prst="rect">
            <a:avLst>
              <a:gd name="adj" fmla="val 10000"/>
            </a:avLst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2286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知识库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834640"/>
            <a:ext cx="1371600" cy="457200"/>
          </a:xfrm>
          <a:prstGeom prst="rect">
            <a:avLst>
              <a:gd name="adj" fmla="val 10000"/>
            </a:avLst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926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答案生成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1371600" cy="45720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66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精准回答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系统特性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0" y="1874520"/>
            <a:ext cx="137160" cy="1371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7" name="Text 15"/>
          <p:cNvSpPr/>
          <p:nvPr/>
        </p:nvSpPr>
        <p:spPr>
          <a:xfrm>
            <a:off x="5257800" y="1828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支持多种文档格式上传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331720"/>
            <a:ext cx="137160" cy="1371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9" name="Text 17"/>
          <p:cNvSpPr/>
          <p:nvPr/>
        </p:nvSpPr>
        <p:spPr>
          <a:xfrm>
            <a:off x="5257800" y="2286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自动文档解析与向量化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0" y="2788920"/>
            <a:ext cx="137160" cy="1371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1" name="Text 19"/>
          <p:cNvSpPr/>
          <p:nvPr/>
        </p:nvSpPr>
        <p:spPr>
          <a:xfrm>
            <a:off x="5257800" y="2743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语义检索与精准匹配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0" y="3246120"/>
            <a:ext cx="137160" cy="1371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3" name="Text 21"/>
          <p:cNvSpPr/>
          <p:nvPr/>
        </p:nvSpPr>
        <p:spPr>
          <a:xfrm>
            <a:off x="5257800" y="3200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引用溯源与答案验证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0" y="3703320"/>
            <a:ext cx="137160" cy="1371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5" name="Text 23"/>
          <p:cNvSpPr/>
          <p:nvPr/>
        </p:nvSpPr>
        <p:spPr>
          <a:xfrm>
            <a:off x="5257800" y="3657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支持私有知识库部署</a:t>
            </a:r>
            <a:endParaRPr lang="en-US" sz="1200" dirty="0"/>
          </a:p>
        </p:txBody>
      </p:sp>
      <p:sp>
        <p:nvSpPr>
          <p:cNvPr id="2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智能记账系统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1280160"/>
          </a:xfrm>
          <a:prstGeom prst="rect">
            <a:avLst>
              <a:gd name="adj" fmla="val 5714"/>
            </a:avLst>
          </a:prstGeom>
          <a:solidFill>
            <a:srgbClr val="1E3A5F">
              <a:alpha val="85000"/>
            </a:srgbClr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45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智能识别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2103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自动识别收支类别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371600"/>
            <a:ext cx="1920240" cy="1280160"/>
          </a:xfrm>
          <a:prstGeom prst="rect">
            <a:avLst>
              <a:gd name="adj" fmla="val 5714"/>
            </a:avLst>
          </a:prstGeom>
          <a:solidFill>
            <a:srgbClr val="2E5C8A">
              <a:alpha val="85000"/>
            </a:srgbClr>
          </a:solidFill>
          <a:ln w="25400">
            <a:solidFill>
              <a:srgbClr val="2E5C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1645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E5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语音记账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697480" y="2103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一句话完成记账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1920240" cy="1280160"/>
          </a:xfrm>
          <a:prstGeom prst="rect">
            <a:avLst>
              <a:gd name="adj" fmla="val 5714"/>
            </a:avLst>
          </a:prstGeom>
          <a:solidFill>
            <a:srgbClr val="1E3A5F">
              <a:alpha val="85000"/>
            </a:srgbClr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108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报表分析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3566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可视化财务分析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0" y="2834640"/>
            <a:ext cx="1920240" cy="1280160"/>
          </a:xfrm>
          <a:prstGeom prst="rect">
            <a:avLst>
              <a:gd name="adj" fmla="val 5714"/>
            </a:avLst>
          </a:prstGeom>
          <a:solidFill>
            <a:srgbClr val="2E5C8A">
              <a:alpha val="85000"/>
            </a:srgbClr>
          </a:solidFill>
          <a:ln w="25400">
            <a:solidFill>
              <a:srgbClr val="2E5C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3108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E5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预算管理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97480" y="3566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智能预算提醒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财务洞察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0" y="1828800"/>
            <a:ext cx="1645920" cy="914400"/>
          </a:xfrm>
          <a:prstGeom prst="rect">
            <a:avLst>
              <a:gd name="adj" fmla="val 5000"/>
            </a:avLst>
          </a:prstGeom>
          <a:solidFill>
            <a:srgbClr val="E8F4F8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1920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本月支出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0" y="2194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</a:rPr>
              <a:t>¥3,250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858000" y="1828800"/>
            <a:ext cx="1645920" cy="914400"/>
          </a:xfrm>
          <a:prstGeom prst="rect">
            <a:avLst>
              <a:gd name="adj" fmla="val 5000"/>
            </a:avLst>
          </a:prstGeom>
          <a:solidFill>
            <a:srgbClr val="E8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1920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本月收入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49440" y="2194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E5C8A"/>
                </a:solidFill>
              </a:rPr>
              <a:t>¥8,500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029200" y="2926080"/>
            <a:ext cx="3474720" cy="1097280"/>
          </a:xfrm>
          <a:prstGeom prst="rect">
            <a:avLst>
              <a:gd name="adj" fmla="val 4167"/>
            </a:avLst>
          </a:prstGeom>
          <a:solidFill>
            <a:srgbClr val="E8F4F8"/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0" y="31089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AI建议：您的餐饮支出占比较高，建议适当控制。</a:t>
            </a:r>
            <a:endParaRPr lang="en-US" sz="1200" dirty="0"/>
          </a:p>
        </p:txBody>
      </p:sp>
      <p:sp>
        <p:nvSpPr>
          <p:cNvPr id="2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技术优势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记忆系统与个性化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3200400"/>
          </a:xfrm>
          <a:prstGeom prst="rect">
            <a:avLst>
              <a:gd name="adj" fmla="val 2857"/>
            </a:avLst>
          </a:prstGeom>
          <a:solidFill>
            <a:srgbClr val="E8F4F8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3566160" cy="548640"/>
          </a:xfrm>
          <a:prstGeom prst="rect">
            <a:avLst>
              <a:gd name="adj" fmla="val 8333"/>
            </a:avLst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91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工作记忆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68880" y="17373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当前对话上下文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3566160" cy="548640"/>
          </a:xfrm>
          <a:prstGeom prst="rect">
            <a:avLst>
              <a:gd name="adj" fmla="val 8333"/>
            </a:avLst>
          </a:prstGeom>
          <a:solidFill>
            <a:srgbClr val="2E5C8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423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短期记忆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0" y="24688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近期交互记录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3566160" cy="548640"/>
          </a:xfrm>
          <a:prstGeom prst="rect">
            <a:avLst>
              <a:gd name="adj" fmla="val 8333"/>
            </a:avLst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154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长期记忆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32004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用户偏好与习惯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749040"/>
            <a:ext cx="3566160" cy="548640"/>
          </a:xfrm>
          <a:prstGeom prst="rect">
            <a:avLst>
              <a:gd name="adj" fmla="val 8333"/>
            </a:avLst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886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68880" y="3931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关联关系网络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个性化能力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29200" y="1828800"/>
            <a:ext cx="228600" cy="2286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9" name="Text 17"/>
          <p:cNvSpPr/>
          <p:nvPr/>
        </p:nvSpPr>
        <p:spPr>
          <a:xfrm>
            <a:off x="5349240" y="1828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自动学习用户偏好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0" y="2286000"/>
            <a:ext cx="228600" cy="2286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1" name="Text 19"/>
          <p:cNvSpPr/>
          <p:nvPr/>
        </p:nvSpPr>
        <p:spPr>
          <a:xfrm>
            <a:off x="5349240" y="2286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话题连续性保持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0" y="2743200"/>
            <a:ext cx="228600" cy="2286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3" name="Text 21"/>
          <p:cNvSpPr/>
          <p:nvPr/>
        </p:nvSpPr>
        <p:spPr>
          <a:xfrm>
            <a:off x="5349240" y="2743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个性化回复风格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0" y="3200400"/>
            <a:ext cx="228600" cy="2286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5" name="Text 23"/>
          <p:cNvSpPr/>
          <p:nvPr/>
        </p:nvSpPr>
        <p:spPr>
          <a:xfrm>
            <a:off x="5349240" y="3200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智能推荐与提醒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0" y="3657600"/>
            <a:ext cx="228600" cy="2286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7" name="Text 25"/>
          <p:cNvSpPr/>
          <p:nvPr/>
        </p:nvSpPr>
        <p:spPr>
          <a:xfrm>
            <a:off x="5349240" y="3657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跨会话记忆同步</a:t>
            </a:r>
            <a:endParaRPr lang="en-US" sz="1200" dirty="0"/>
          </a:p>
        </p:txBody>
      </p:sp>
      <p:sp>
        <p:nvSpPr>
          <p:cNvPr id="2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技术优势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多媒体处理能力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1554480"/>
          </a:xfrm>
          <a:prstGeom prst="rect">
            <a:avLst>
              <a:gd name="adj" fmla="val 4706"/>
            </a:avLst>
          </a:prstGeom>
          <a:solidFill>
            <a:srgbClr val="E8F4F8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554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91440" cy="9144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116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长文本分段朗读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91440" cy="9144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2860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多语言支持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606040"/>
            <a:ext cx="91440" cy="9144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5603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情感语音合成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0" y="1371600"/>
            <a:ext cx="1920240" cy="1554480"/>
          </a:xfrm>
          <a:prstGeom prst="rect">
            <a:avLst>
              <a:gd name="adj" fmla="val 4706"/>
            </a:avLst>
          </a:prstGeom>
          <a:solidFill>
            <a:srgbClr val="E8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26974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🖼️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200400" y="1554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743200" y="2057400"/>
            <a:ext cx="91440" cy="9144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7" name="Text 15"/>
          <p:cNvSpPr/>
          <p:nvPr/>
        </p:nvSpPr>
        <p:spPr>
          <a:xfrm>
            <a:off x="2926080" y="20116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图像识别分析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0" y="2331720"/>
            <a:ext cx="91440" cy="9144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0" y="22860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OCR文字提取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0" y="2606040"/>
            <a:ext cx="91440" cy="9144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1" name="Text 19"/>
          <p:cNvSpPr/>
          <p:nvPr/>
        </p:nvSpPr>
        <p:spPr>
          <a:xfrm>
            <a:off x="2926080" y="25603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图表数据解析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108960"/>
            <a:ext cx="1920240" cy="1554480"/>
          </a:xfrm>
          <a:prstGeom prst="rect">
            <a:avLst>
              <a:gd name="adj" fmla="val 4706"/>
            </a:avLst>
          </a:prstGeom>
          <a:solidFill>
            <a:srgbClr val="E8F4F8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097280" y="3291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3794760"/>
            <a:ext cx="91440" cy="9144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37490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PDF/Word解析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4069080"/>
            <a:ext cx="91440" cy="9144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0233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表格数据提取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4343400"/>
            <a:ext cx="91440" cy="9144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42976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批量文档处理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0" y="3108960"/>
            <a:ext cx="1920240" cy="1554480"/>
          </a:xfrm>
          <a:prstGeom prst="rect">
            <a:avLst>
              <a:gd name="adj" fmla="val 4706"/>
            </a:avLst>
          </a:prstGeom>
          <a:solidFill>
            <a:srgbClr val="E8F4F8"/>
          </a:solidFill>
          <a:ln/>
        </p:spPr>
      </p:sp>
      <p:sp>
        <p:nvSpPr>
          <p:cNvPr id="32" name="Text 30"/>
          <p:cNvSpPr/>
          <p:nvPr/>
        </p:nvSpPr>
        <p:spPr>
          <a:xfrm>
            <a:off x="269748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🎤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3200400" y="3291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2743200" y="3794760"/>
            <a:ext cx="91440" cy="9144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35" name="Text 33"/>
          <p:cNvSpPr/>
          <p:nvPr/>
        </p:nvSpPr>
        <p:spPr>
          <a:xfrm>
            <a:off x="2926080" y="37490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实时语音识别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0" y="4069080"/>
            <a:ext cx="91440" cy="9144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37" name="Text 35"/>
          <p:cNvSpPr/>
          <p:nvPr/>
        </p:nvSpPr>
        <p:spPr>
          <a:xfrm>
            <a:off x="2926080" y="40233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语音指令控制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0" y="4343400"/>
            <a:ext cx="91440" cy="9144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39" name="Text 37"/>
          <p:cNvSpPr/>
          <p:nvPr/>
        </p:nvSpPr>
        <p:spPr>
          <a:xfrm>
            <a:off x="2926080" y="42976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多音色合成</a:t>
            </a:r>
            <a:endParaRPr lang="en-US" sz="1000" dirty="0"/>
          </a:p>
        </p:txBody>
      </p:sp>
      <p:sp>
        <p:nvSpPr>
          <p:cNvPr id="4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企业级解决方案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1554480"/>
          </a:xfrm>
          <a:prstGeom prst="rect">
            <a:avLst>
              <a:gd name="adj" fmla="val 4706"/>
            </a:avLst>
          </a:prstGeom>
          <a:solidFill>
            <a:srgbClr val="1E3A5F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08760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16002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客户服务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7×24小时智能客服，自动处理常见问题，提升客户满意度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371600"/>
            <a:ext cx="1920240" cy="1554480"/>
          </a:xfrm>
          <a:prstGeom prst="rect">
            <a:avLst>
              <a:gd name="adj" fmla="val 4706"/>
            </a:avLst>
          </a:prstGeom>
          <a:solidFill>
            <a:srgbClr val="2E5C8A">
              <a:alpha val="90000"/>
            </a:srgbClr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97480" y="1508760"/>
            <a:ext cx="548640" cy="548640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83280" y="16002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办公自动化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97480" y="21945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文档处理、数据分析、会议记录，释放员工生产力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1920240" cy="1554480"/>
          </a:xfrm>
          <a:prstGeom prst="rect">
            <a:avLst>
              <a:gd name="adj" fmla="val 4706"/>
            </a:avLst>
          </a:prstGeom>
          <a:solidFill>
            <a:srgbClr val="1E3A5F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3246120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2918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280160" y="33375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知识管理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39319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构建企业知识库，实现知识沉淀与智能检索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0" y="3108960"/>
            <a:ext cx="1920240" cy="1554480"/>
          </a:xfrm>
          <a:prstGeom prst="rect">
            <a:avLst>
              <a:gd name="adj" fmla="val 4706"/>
            </a:avLst>
          </a:prstGeom>
          <a:solidFill>
            <a:srgbClr val="2E5C8A">
              <a:alpha val="90000"/>
            </a:srgbClr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97480" y="3246120"/>
            <a:ext cx="548640" cy="548640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21" name="Text 19"/>
          <p:cNvSpPr/>
          <p:nvPr/>
        </p:nvSpPr>
        <p:spPr>
          <a:xfrm>
            <a:off x="2697480" y="32918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383280" y="33375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财务管控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697480" y="39319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智能记账、预算管理、财务分析，助力企业降本增效</a:t>
            </a:r>
            <a:endParaRPr lang="en-US" sz="1100" dirty="0"/>
          </a:p>
        </p:txBody>
      </p:sp>
      <p:sp>
        <p:nvSpPr>
          <p:cNvPr id="2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高性能系统设计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371600" cy="640080"/>
          </a:xfrm>
          <a:prstGeom prst="rect">
            <a:avLst>
              <a:gd name="adj" fmla="val 7143"/>
            </a:avLst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03120" y="1371600"/>
            <a:ext cx="1280160" cy="640080"/>
          </a:xfrm>
          <a:prstGeom prst="rect">
            <a:avLst>
              <a:gd name="adj" fmla="val 7143"/>
            </a:avLst>
          </a:prstGeom>
          <a:solidFill>
            <a:srgbClr val="E8F4F8"/>
          </a:solidFill>
          <a:ln/>
        </p:spPr>
      </p:sp>
      <p:sp>
        <p:nvSpPr>
          <p:cNvPr id="7" name="Text 5"/>
          <p:cNvSpPr/>
          <p:nvPr/>
        </p:nvSpPr>
        <p:spPr>
          <a:xfrm>
            <a:off x="2103120" y="15544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Next.js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66160" y="1371600"/>
            <a:ext cx="1280160" cy="640080"/>
          </a:xfrm>
          <a:prstGeom prst="rect">
            <a:avLst>
              <a:gd name="adj" fmla="val 7143"/>
            </a:avLst>
          </a:prstGeom>
          <a:solidFill>
            <a:srgbClr val="E8F4F8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15544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19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0" y="1371600"/>
            <a:ext cx="1280160" cy="640080"/>
          </a:xfrm>
          <a:prstGeom prst="rect">
            <a:avLst>
              <a:gd name="adj" fmla="val 7143"/>
            </a:avLst>
          </a:prstGeom>
          <a:solidFill>
            <a:srgbClr val="E8F4F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Tailwind CSS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1371600" cy="640080"/>
          </a:xfrm>
          <a:prstGeom prst="rect">
            <a:avLst>
              <a:gd name="adj" fmla="val 7143"/>
            </a:avLst>
          </a:prstGeom>
          <a:solidFill>
            <a:srgbClr val="2E5C8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423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03120" y="2240280"/>
            <a:ext cx="1280160" cy="640080"/>
          </a:xfrm>
          <a:prstGeom prst="rect">
            <a:avLst>
              <a:gd name="adj" fmla="val 7143"/>
            </a:avLst>
          </a:prstGeom>
          <a:solidFill>
            <a:srgbClr val="E8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2103120" y="2423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RESTful API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66160" y="2240280"/>
            <a:ext cx="1280160" cy="640080"/>
          </a:xfrm>
          <a:prstGeom prst="rect">
            <a:avLst>
              <a:gd name="adj" fmla="val 7143"/>
            </a:avLst>
          </a:prstGeom>
          <a:solidFill>
            <a:srgbClr val="E8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0" y="2423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WebSocket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0" y="2240280"/>
            <a:ext cx="1280160" cy="640080"/>
          </a:xfrm>
          <a:prstGeom prst="rect">
            <a:avLst>
              <a:gd name="adj" fmla="val 7143"/>
            </a:avLst>
          </a:prstGeom>
          <a:solidFill>
            <a:srgbClr val="E8F4F8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2423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文件缓存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1371600" cy="640080"/>
          </a:xfrm>
          <a:prstGeom prst="rect">
            <a:avLst>
              <a:gd name="adj" fmla="val 7143"/>
            </a:avLst>
          </a:prstGeom>
          <a:solidFill>
            <a:srgbClr val="00D4A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291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103120" y="3108960"/>
            <a:ext cx="1280160" cy="640080"/>
          </a:xfrm>
          <a:prstGeom prst="rect">
            <a:avLst>
              <a:gd name="adj" fmla="val 7143"/>
            </a:avLst>
          </a:prstGeom>
          <a:solidFill>
            <a:srgbClr val="E8F4F8"/>
          </a:solidFill>
          <a:ln/>
        </p:spPr>
      </p:sp>
      <p:sp>
        <p:nvSpPr>
          <p:cNvPr id="23" name="Text 21"/>
          <p:cNvSpPr/>
          <p:nvPr/>
        </p:nvSpPr>
        <p:spPr>
          <a:xfrm>
            <a:off x="2103120" y="3291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LLM引擎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566160" y="3108960"/>
            <a:ext cx="1280160" cy="640080"/>
          </a:xfrm>
          <a:prstGeom prst="rect">
            <a:avLst>
              <a:gd name="adj" fmla="val 7143"/>
            </a:avLst>
          </a:prstGeom>
          <a:solidFill>
            <a:srgbClr val="E8F4F8"/>
          </a:solidFill>
          <a:ln/>
        </p:spPr>
      </p:sp>
      <p:sp>
        <p:nvSpPr>
          <p:cNvPr id="25" name="Text 23"/>
          <p:cNvSpPr/>
          <p:nvPr/>
        </p:nvSpPr>
        <p:spPr>
          <a:xfrm>
            <a:off x="3566160" y="3291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Agent系统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0" y="3108960"/>
            <a:ext cx="1280160" cy="640080"/>
          </a:xfrm>
          <a:prstGeom prst="rect">
            <a:avLst>
              <a:gd name="adj" fmla="val 7143"/>
            </a:avLst>
          </a:prstGeom>
          <a:solidFill>
            <a:srgbClr val="E8F4F8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3291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RAG检索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977640"/>
            <a:ext cx="1371600" cy="640080"/>
          </a:xfrm>
          <a:prstGeom prst="rect">
            <a:avLst>
              <a:gd name="adj" fmla="val 7143"/>
            </a:avLst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160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103120" y="3977640"/>
            <a:ext cx="1280160" cy="640080"/>
          </a:xfrm>
          <a:prstGeom prst="rect">
            <a:avLst>
              <a:gd name="adj" fmla="val 7143"/>
            </a:avLst>
          </a:prstGeom>
          <a:solidFill>
            <a:srgbClr val="E8F4F8"/>
          </a:solidFill>
          <a:ln/>
        </p:spPr>
      </p:sp>
      <p:sp>
        <p:nvSpPr>
          <p:cNvPr id="31" name="Text 29"/>
          <p:cNvSpPr/>
          <p:nvPr/>
        </p:nvSpPr>
        <p:spPr>
          <a:xfrm>
            <a:off x="2103120" y="4160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MongoDB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566160" y="3977640"/>
            <a:ext cx="1280160" cy="640080"/>
          </a:xfrm>
          <a:prstGeom prst="rect">
            <a:avLst>
              <a:gd name="adj" fmla="val 7143"/>
            </a:avLst>
          </a:prstGeom>
          <a:solidFill>
            <a:srgbClr val="E8F4F8"/>
          </a:solidFill>
          <a:ln/>
        </p:spPr>
      </p:sp>
      <p:sp>
        <p:nvSpPr>
          <p:cNvPr id="33" name="Text 31"/>
          <p:cNvSpPr/>
          <p:nvPr/>
        </p:nvSpPr>
        <p:spPr>
          <a:xfrm>
            <a:off x="3566160" y="4160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向量数据库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0" y="3977640"/>
            <a:ext cx="1280160" cy="640080"/>
          </a:xfrm>
          <a:prstGeom prst="rect">
            <a:avLst>
              <a:gd name="adj" fmla="val 7143"/>
            </a:avLst>
          </a:prstGeom>
          <a:solidFill>
            <a:srgbClr val="E8F4F8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0" y="4160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Redis缓存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性能优化成果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44805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响应速度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4663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提升40%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468880" y="44805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并发处理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468880" y="4663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提升60%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480560" y="44805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内存优化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480560" y="4663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降低35%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492240" y="44805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代码精简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92240" y="4663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减少2600+行</a:t>
            </a:r>
            <a:endParaRPr lang="en-US" sz="1400" dirty="0"/>
          </a:p>
        </p:txBody>
      </p:sp>
      <p:sp>
        <p:nvSpPr>
          <p:cNvPr id="4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1371600" cy="1371600"/>
          </a:xfrm>
          <a:prstGeom prst="ellipse">
            <a:avLst/>
          </a:prstGeom>
          <a:solidFill>
            <a:srgbClr val="2E5C8A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spc="3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开启智能新时代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Yinxin.AGI.ai - 您的智能助手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联系我们，开启智能化转型之旅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0" y="4114800"/>
            <a:ext cx="182880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2026-05-06T15:28:19Z</dcterms:created>
  <dcterms:modified xsi:type="dcterms:W3CDTF">2026-05-06T15:28:19Z</dcterms:modified>
</cp:coreProperties>
</file>